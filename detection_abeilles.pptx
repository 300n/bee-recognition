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207" d="100"/>
          <a:sy n="207" d="100"/>
        </p:scale>
        <p:origin x="7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8895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74320"/>
            <a:ext cx="475488" cy="566928"/>
          </a:xfrm>
          <a:prstGeom prst="ellipse">
            <a:avLst/>
          </a:prstGeom>
          <a:solidFill>
            <a:srgbClr val="E8A020">
              <a:alpha val="15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64808" y="1024128"/>
            <a:ext cx="475488" cy="566928"/>
          </a:xfrm>
          <a:prstGeom prst="ellipse">
            <a:avLst/>
          </a:prstGeom>
          <a:solidFill>
            <a:srgbClr val="E8A020">
              <a:alpha val="14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217920" y="1773936"/>
            <a:ext cx="475488" cy="566928"/>
          </a:xfrm>
          <a:prstGeom prst="ellipse">
            <a:avLst/>
          </a:prstGeom>
          <a:solidFill>
            <a:srgbClr val="E8A020">
              <a:alpha val="13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64808" y="2523744"/>
            <a:ext cx="475488" cy="566928"/>
          </a:xfrm>
          <a:prstGeom prst="ellipse">
            <a:avLst/>
          </a:prstGeom>
          <a:solidFill>
            <a:srgbClr val="E8A020">
              <a:alpha val="12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720840" y="274320"/>
            <a:ext cx="475488" cy="566928"/>
          </a:xfrm>
          <a:prstGeom prst="ellipse">
            <a:avLst/>
          </a:prstGeom>
          <a:solidFill>
            <a:srgbClr val="E8A020">
              <a:alpha val="14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967728" y="1024128"/>
            <a:ext cx="475488" cy="566928"/>
          </a:xfrm>
          <a:prstGeom prst="ellipse">
            <a:avLst/>
          </a:prstGeom>
          <a:solidFill>
            <a:srgbClr val="E8A020">
              <a:alpha val="13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720840" y="1773936"/>
            <a:ext cx="475488" cy="566928"/>
          </a:xfrm>
          <a:prstGeom prst="ellipse">
            <a:avLst/>
          </a:prstGeom>
          <a:solidFill>
            <a:srgbClr val="E8A020">
              <a:alpha val="12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967728" y="2523744"/>
            <a:ext cx="475488" cy="566928"/>
          </a:xfrm>
          <a:prstGeom prst="ellipse">
            <a:avLst/>
          </a:prstGeom>
          <a:solidFill>
            <a:srgbClr val="E8A020">
              <a:alpha val="11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7223760" y="274320"/>
            <a:ext cx="475488" cy="566928"/>
          </a:xfrm>
          <a:prstGeom prst="ellipse">
            <a:avLst/>
          </a:prstGeom>
          <a:solidFill>
            <a:srgbClr val="E8A020">
              <a:alpha val="13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7470648" y="1024128"/>
            <a:ext cx="475488" cy="566928"/>
          </a:xfrm>
          <a:prstGeom prst="ellipse">
            <a:avLst/>
          </a:prstGeom>
          <a:solidFill>
            <a:srgbClr val="E8A020">
              <a:alpha val="12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223760" y="1773936"/>
            <a:ext cx="475488" cy="566928"/>
          </a:xfrm>
          <a:prstGeom prst="ellipse">
            <a:avLst/>
          </a:prstGeom>
          <a:solidFill>
            <a:srgbClr val="E8A020">
              <a:alpha val="11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7470648" y="2523744"/>
            <a:ext cx="475488" cy="566928"/>
          </a:xfrm>
          <a:prstGeom prst="ellipse">
            <a:avLst/>
          </a:prstGeom>
          <a:solidFill>
            <a:srgbClr val="E8A020">
              <a:alpha val="10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7726680" y="274320"/>
            <a:ext cx="475488" cy="566928"/>
          </a:xfrm>
          <a:prstGeom prst="ellipse">
            <a:avLst/>
          </a:prstGeom>
          <a:solidFill>
            <a:srgbClr val="E8A020">
              <a:alpha val="12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7973568" y="1024128"/>
            <a:ext cx="475488" cy="566928"/>
          </a:xfrm>
          <a:prstGeom prst="ellipse">
            <a:avLst/>
          </a:prstGeom>
          <a:solidFill>
            <a:srgbClr val="E8A020">
              <a:alpha val="11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7726680" y="1773936"/>
            <a:ext cx="475488" cy="566928"/>
          </a:xfrm>
          <a:prstGeom prst="ellipse">
            <a:avLst/>
          </a:prstGeom>
          <a:solidFill>
            <a:srgbClr val="E8A020">
              <a:alpha val="10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7973568" y="2523744"/>
            <a:ext cx="475488" cy="566928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8229600" y="274320"/>
            <a:ext cx="475488" cy="566928"/>
          </a:xfrm>
          <a:prstGeom prst="ellipse">
            <a:avLst/>
          </a:prstGeom>
          <a:solidFill>
            <a:srgbClr val="E8A020">
              <a:alpha val="11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8476488" y="1024128"/>
            <a:ext cx="475488" cy="566928"/>
          </a:xfrm>
          <a:prstGeom prst="ellipse">
            <a:avLst/>
          </a:prstGeom>
          <a:solidFill>
            <a:srgbClr val="E8A020">
              <a:alpha val="10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8229600" y="1773936"/>
            <a:ext cx="475488" cy="566928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8476488" y="2523744"/>
            <a:ext cx="475488" cy="566928"/>
          </a:xfrm>
          <a:prstGeom prst="ellipse">
            <a:avLst/>
          </a:prstGeom>
          <a:solidFill>
            <a:srgbClr val="E8A020">
              <a:alpha val="8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8732520" y="274320"/>
            <a:ext cx="475488" cy="566928"/>
          </a:xfrm>
          <a:prstGeom prst="ellipse">
            <a:avLst/>
          </a:prstGeom>
          <a:solidFill>
            <a:srgbClr val="E8A020">
              <a:alpha val="10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8979408" y="1024128"/>
            <a:ext cx="475488" cy="566928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8732520" y="1773936"/>
            <a:ext cx="475488" cy="566928"/>
          </a:xfrm>
          <a:prstGeom prst="ellipse">
            <a:avLst/>
          </a:prstGeom>
          <a:solidFill>
            <a:srgbClr val="E8A020">
              <a:alpha val="8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8979408" y="2523744"/>
            <a:ext cx="475488" cy="566928"/>
          </a:xfrm>
          <a:prstGeom prst="ellipse">
            <a:avLst/>
          </a:prstGeom>
          <a:solidFill>
            <a:srgbClr val="E8A020">
              <a:alpha val="7000"/>
            </a:srgbClr>
          </a:solidFill>
          <a:ln w="1016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548640" y="1097280"/>
            <a:ext cx="45720" cy="27432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77240" y="100584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d'abeilles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777240" y="17373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vision par ordinateur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77240" y="26060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d'activité de cadres de ruche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traitement d'image et machine learning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EA0"/>
                </a:solidFill>
              </a:rPr>
              <a:t>Soutenance de projet — 2025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94960" y="2468880"/>
            <a:ext cx="493776" cy="30175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A0601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5329123" y="2523744"/>
            <a:ext cx="175565" cy="175565"/>
          </a:xfrm>
          <a:prstGeom prst="ellipse">
            <a:avLst/>
          </a:prstGeom>
          <a:solidFill>
            <a:srgbClr val="2A1A00"/>
          </a:solidFill>
          <a:ln w="6350">
            <a:solidFill>
              <a:srgbClr val="A0601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5449824" y="2331720"/>
            <a:ext cx="301752" cy="153619"/>
          </a:xfrm>
          <a:prstGeom prst="ellipse">
            <a:avLst/>
          </a:prstGeom>
          <a:solidFill>
            <a:srgbClr val="AACCFF">
              <a:alpha val="55000"/>
            </a:srgbClr>
          </a:solidFill>
          <a:ln w="8890">
            <a:solidFill>
              <a:srgbClr val="7799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914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503920" y="7772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046720" y="14630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606040" cy="1371600"/>
          </a:xfrm>
          <a:prstGeom prst="rect">
            <a:avLst/>
          </a:prstGeom>
          <a:solidFill>
            <a:srgbClr val="222244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29768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29768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19476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enjeux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606040" cy="1371600"/>
          </a:xfrm>
          <a:prstGeom prst="rect">
            <a:avLst/>
          </a:prstGeom>
          <a:solidFill>
            <a:srgbClr val="222244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310128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10128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technique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9476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défis, dataset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051560"/>
            <a:ext cx="2606040" cy="1371600"/>
          </a:xfrm>
          <a:prstGeom prst="rect">
            <a:avLst/>
          </a:prstGeom>
          <a:solidFill>
            <a:srgbClr val="222244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190488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90488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classique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0488" y="19476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&amp; heatmap FFT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788920"/>
            <a:ext cx="2606040" cy="1371600"/>
          </a:xfrm>
          <a:prstGeom prst="rect">
            <a:avLst/>
          </a:prstGeom>
          <a:solidFill>
            <a:srgbClr val="222244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29768" y="2880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29768" y="3291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685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YOLOv8-Pose &amp; pipeline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2788920"/>
            <a:ext cx="2606040" cy="1371600"/>
          </a:xfrm>
          <a:prstGeom prst="rect">
            <a:avLst/>
          </a:prstGeom>
          <a:solidFill>
            <a:srgbClr val="222244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310128" y="2880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310128" y="3291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10128" y="3685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suite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EA0"/>
                </a:solidFill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914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503920" y="7772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046720" y="14630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2011680"/>
            <a:ext cx="9144000" cy="1280160"/>
          </a:xfrm>
          <a:prstGeom prst="rect">
            <a:avLst/>
          </a:prstGeom>
          <a:solidFill>
            <a:srgbClr val="E8A020">
              <a:alpha val="90000"/>
            </a:srgbClr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8A020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L'abeille &amp; la ruche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enjeux</a:t>
            </a:r>
            <a:endParaRPr lang="en-US" sz="16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988DC64-A899-44E0-8C34-D5DE4117C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33350"/>
            <a:ext cx="48768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914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503920" y="7772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046720" y="14630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L'espèce la plus importante de la planète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200400" cy="3474720"/>
          </a:xfrm>
          <a:prstGeom prst="rect">
            <a:avLst/>
          </a:prstGeom>
          <a:solidFill>
            <a:srgbClr val="222244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Espèce la plus importante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le Earthwatch Institute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2651760" cy="45720"/>
          </a:xfrm>
          <a:prstGeom prst="rect">
            <a:avLst/>
          </a:prstGeom>
          <a:solidFill>
            <a:srgbClr val="E8A020">
              <a:alpha val="50000"/>
            </a:srgbClr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0040" y="3154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0040" y="37490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cultures mondiales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dépendent de la pollinisation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03320" y="960120"/>
            <a:ext cx="5120640" cy="3474720"/>
          </a:xfrm>
          <a:prstGeom prst="rect">
            <a:avLst/>
          </a:prstGeom>
          <a:solidFill>
            <a:srgbClr val="2A2A4A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703320" y="2468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EA0"/>
                </a:solidFill>
              </a:rPr>
              <a:t>[ Photo : abeille / floraison 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4553712"/>
            <a:ext cx="8595360" cy="411480"/>
          </a:xfrm>
          <a:prstGeom prst="rect">
            <a:avLst/>
          </a:prstGeom>
          <a:solidFill>
            <a:srgbClr val="3D1010">
              <a:alpha val="80000"/>
            </a:srgbClr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20040" y="4572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Et pourtant : espèce gravement menacée — pesticides, pathogènes, réchauffement climatique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EA0"/>
                </a:solidFill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914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503920" y="7772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046720" y="14630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ruche : un écosystème à surveiller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023360" cy="2926080"/>
          </a:xfrm>
          <a:prstGeom prst="rect">
            <a:avLst/>
          </a:prstGeom>
          <a:solidFill>
            <a:srgbClr val="2A2A4A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28600" y="2194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EA0"/>
                </a:solidFill>
              </a:rPr>
              <a:t>[ Photo : cadre de ruche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26280" y="1005840"/>
            <a:ext cx="4297680" cy="658368"/>
          </a:xfrm>
          <a:prstGeom prst="rect">
            <a:avLst/>
          </a:prstGeom>
          <a:solidFill>
            <a:srgbClr val="222244"/>
          </a:solidFill>
          <a:ln w="12700">
            <a:solidFill>
              <a:srgbClr val="1E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26280" y="1005840"/>
            <a:ext cx="4572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645152" y="10515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🐝  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7492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milliers d'abeilles</a:t>
            </a:r>
            <a:r>
              <a:rPr lang="en-US" sz="12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cohabitent sur des cadres de cire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26280" y="1810512"/>
            <a:ext cx="4297680" cy="658368"/>
          </a:xfrm>
          <a:prstGeom prst="rect">
            <a:avLst/>
          </a:prstGeom>
          <a:solidFill>
            <a:srgbClr val="222244"/>
          </a:solidFill>
          <a:ln w="12700">
            <a:solidFill>
              <a:srgbClr val="1E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526280" y="1810512"/>
            <a:ext cx="4572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645152" y="185623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🍯  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74920" y="1901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Alvéoles hexagonaux :</a:t>
            </a:r>
            <a:r>
              <a:rPr lang="en-US" sz="12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miel, pollen, couvain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26280" y="2615184"/>
            <a:ext cx="4297680" cy="658368"/>
          </a:xfrm>
          <a:prstGeom prst="rect">
            <a:avLst/>
          </a:prstGeom>
          <a:solidFill>
            <a:srgbClr val="222244"/>
          </a:solidFill>
          <a:ln w="12700">
            <a:solidFill>
              <a:srgbClr val="1E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526280" y="2615184"/>
            <a:ext cx="4572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645152" y="266090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  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74920" y="27066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L'activité sur le cadre</a:t>
            </a:r>
            <a:r>
              <a:rPr lang="en-US" sz="12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indicateur de santé de la colonie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26280" y="3419856"/>
            <a:ext cx="4297680" cy="658368"/>
          </a:xfrm>
          <a:prstGeom prst="rect">
            <a:avLst/>
          </a:prstGeom>
          <a:solidFill>
            <a:srgbClr val="222244"/>
          </a:solidFill>
          <a:ln w="12700">
            <a:solidFill>
              <a:srgbClr val="1E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26280" y="3419856"/>
            <a:ext cx="4572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645152" y="346557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🎯  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74920" y="35112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objectif :</a:t>
            </a:r>
            <a:r>
              <a:rPr lang="en-US" sz="12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analyser automatiquement cette activité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4069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Vision par ordinateur comme outil de monitoring apicole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EA0"/>
                </a:solidFill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914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503920" y="7772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046720" y="14630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2011680"/>
            <a:ext cx="9144000" cy="1280160"/>
          </a:xfrm>
          <a:prstGeom prst="rect">
            <a:avLst/>
          </a:prstGeom>
          <a:solidFill>
            <a:srgbClr val="E8A020">
              <a:alpha val="90000"/>
            </a:srgbClr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8A020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technique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défis, dataset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914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503920" y="7772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046720" y="14630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images complexes à analyser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3931920" cy="2560320"/>
          </a:xfrm>
          <a:prstGeom prst="rect">
            <a:avLst/>
          </a:prstGeom>
          <a:solidFill>
            <a:srgbClr val="2A2A4A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28600" y="1965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EA0"/>
                </a:solidFill>
              </a:rPr>
              <a:t>[ Image brute de la ruche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914400"/>
            <a:ext cx="4389120" cy="2560320"/>
          </a:xfrm>
          <a:prstGeom prst="rect">
            <a:avLst/>
          </a:prstGeom>
          <a:solidFill>
            <a:srgbClr val="2A2A4A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434840" y="1965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EA0"/>
                </a:solidFill>
              </a:rPr>
              <a:t>[ Zoom : gradient lumineux 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3703320"/>
            <a:ext cx="2011680" cy="1234440"/>
          </a:xfrm>
          <a:prstGeom prst="rect">
            <a:avLst/>
          </a:prstGeom>
          <a:solidFill>
            <a:srgbClr val="222244"/>
          </a:solidFill>
          <a:ln w="1016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38328" y="3767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" y="41148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rasant → partie gauche 2× plus sombre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04872" y="3703320"/>
            <a:ext cx="2011680" cy="1234440"/>
          </a:xfrm>
          <a:prstGeom prst="rect">
            <a:avLst/>
          </a:prstGeom>
          <a:solidFill>
            <a:srgbClr val="222244"/>
          </a:solidFill>
          <a:ln w="1016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514600" y="3767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de gris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41148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couleur — contraste réduit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81144" y="3703320"/>
            <a:ext cx="2011680" cy="1234440"/>
          </a:xfrm>
          <a:prstGeom prst="rect">
            <a:avLst/>
          </a:prstGeom>
          <a:solidFill>
            <a:srgbClr val="222244"/>
          </a:solidFill>
          <a:ln w="1016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690872" y="3767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Alvéoles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90872" y="41148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hexagonal omniprésent et fort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57416" y="3703320"/>
            <a:ext cx="2011680" cy="1234440"/>
          </a:xfrm>
          <a:prstGeom prst="rect">
            <a:avLst/>
          </a:prstGeom>
          <a:solidFill>
            <a:srgbClr val="222244"/>
          </a:solidFill>
          <a:ln w="1016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867144" y="3767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Chevauchements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67144" y="41148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Abeilles empilées, partiellement cachées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EA0"/>
                </a:solidFill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914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503920" y="7772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046720" y="14630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2011680"/>
            <a:ext cx="9144000" cy="1280160"/>
          </a:xfrm>
          <a:prstGeom prst="rect">
            <a:avLst/>
          </a:prstGeom>
          <a:solidFill>
            <a:srgbClr val="E8A020">
              <a:alpha val="90000"/>
            </a:srgbClr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8A020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classique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d'image sans machine learning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914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503920" y="7772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046720" y="14630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temporelle — et ses limites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160520" cy="2011680"/>
          </a:xfrm>
          <a:prstGeom prst="rect">
            <a:avLst/>
          </a:prstGeom>
          <a:solidFill>
            <a:srgbClr val="222244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98755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 A — Soustraction de moyenne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 : </a:t>
            </a:r>
            <a:r>
              <a:rPr lang="en-US" sz="11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de 100 images → les alvéoles s'impriment, les abeilles s'effacent. On soustrait cette moyenne à chaque frame.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3749040" cy="548640"/>
          </a:xfrm>
          <a:prstGeom prst="rect">
            <a:avLst/>
          </a:prstGeom>
          <a:solidFill>
            <a:srgbClr val="3A1515"/>
          </a:solidFill>
          <a:ln w="1016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75488" y="23042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Certaines abeilles ne bougent pas → disparaissent de la soustraction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160520" cy="2011680"/>
          </a:xfrm>
          <a:prstGeom prst="rect">
            <a:avLst/>
          </a:prstGeom>
          <a:solidFill>
            <a:srgbClr val="222244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00600" y="98755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 B — Pixels stables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173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 : </a:t>
            </a:r>
            <a:r>
              <a:rPr lang="en-US" sz="11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statistiquement les pixels stables sur plusieurs images = alvéoles, puis les exclure.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240280"/>
            <a:ext cx="3749040" cy="548640"/>
          </a:xfrm>
          <a:prstGeom prst="rect">
            <a:avLst/>
          </a:prstGeom>
          <a:solidFill>
            <a:srgbClr val="3A1515"/>
          </a:solidFill>
          <a:ln w="1016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910328" y="23042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Même limite fondamentale — les abeilles immobiles sont classées 'fond'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3108960"/>
            <a:ext cx="8595360" cy="502920"/>
          </a:xfrm>
          <a:prstGeom prst="rect">
            <a:avLst/>
          </a:prstGeom>
          <a:solidFill>
            <a:srgbClr val="1E2A4A"/>
          </a:solidFill>
          <a:ln w="6350">
            <a:solidFill>
              <a:srgbClr val="8A8E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32004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Une méthode purement temporelle ne peut pas détecter ce qui est immobile — changement d'approche nécessaire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8600" y="3767328"/>
            <a:ext cx="8595360" cy="1170432"/>
          </a:xfrm>
          <a:prstGeom prst="rect">
            <a:avLst/>
          </a:prstGeom>
          <a:solidFill>
            <a:srgbClr val="2A2A4A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28600" y="412394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EA0"/>
                </a:solidFill>
              </a:rPr>
              <a:t>[ Résultat visuel : soustraction temporelle — abeilles manquantes 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EA0"/>
                </a:solidFill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914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503920" y="7772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046720" y="14630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FFT + seuillage + heatmap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1965960" cy="1691640"/>
          </a:xfrm>
          <a:prstGeom prst="rect">
            <a:avLst/>
          </a:prstGeom>
          <a:solidFill>
            <a:srgbClr val="222244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914400" y="987552"/>
            <a:ext cx="502920" cy="41148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914400" y="9875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463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Fourier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0040" y="19385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Fréquences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dominantes = alvéoles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94560" y="1645920"/>
            <a:ext cx="210312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404872" y="914400"/>
            <a:ext cx="1965960" cy="1691640"/>
          </a:xfrm>
          <a:prstGeom prst="rect">
            <a:avLst/>
          </a:prstGeom>
          <a:solidFill>
            <a:srgbClr val="222244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090672" y="987552"/>
            <a:ext cx="502920" cy="41148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090672" y="9875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96312" y="1463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morphologique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96312" y="19385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Abeilles → taches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sombres rondes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70832" y="1645920"/>
            <a:ext cx="210312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581144" y="914400"/>
            <a:ext cx="1965960" cy="1691640"/>
          </a:xfrm>
          <a:prstGeom prst="rect">
            <a:avLst/>
          </a:prstGeom>
          <a:solidFill>
            <a:srgbClr val="222244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266944" y="987552"/>
            <a:ext cx="502920" cy="41148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266944" y="9875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72584" y="1463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Seuillage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72584" y="19385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les plus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sombres conservées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47104" y="1645920"/>
            <a:ext cx="210312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757416" y="914400"/>
            <a:ext cx="1965960" cy="1691640"/>
          </a:xfrm>
          <a:prstGeom prst="rect">
            <a:avLst/>
          </a:prstGeom>
          <a:solidFill>
            <a:srgbClr val="222244"/>
          </a:solidFill>
          <a:ln w="12700">
            <a:solidFill>
              <a:srgbClr val="22CC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7443216" y="987552"/>
            <a:ext cx="502920" cy="411480"/>
          </a:xfrm>
          <a:prstGeom prst="ellipse">
            <a:avLst/>
          </a:prstGeom>
          <a:solidFill>
            <a:srgbClr val="22CC88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443216" y="9875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48856" y="1463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48856" y="19385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Surbrillance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des abeilles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2788920"/>
            <a:ext cx="2743200" cy="1691640"/>
          </a:xfrm>
          <a:prstGeom prst="rect">
            <a:avLst/>
          </a:prstGeom>
          <a:solidFill>
            <a:srgbClr val="2A2A4A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28600" y="34061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EA0"/>
                </a:solidFill>
              </a:rPr>
              <a:t>[ Spectre FFT 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2788920"/>
            <a:ext cx="2743200" cy="1691640"/>
          </a:xfrm>
          <a:prstGeom prst="rect">
            <a:avLst/>
          </a:prstGeom>
          <a:solidFill>
            <a:srgbClr val="2A2A4A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200400" y="34061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EA0"/>
                </a:solidFill>
              </a:rPr>
              <a:t>[ Image après filtre ]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788920"/>
            <a:ext cx="2697480" cy="1691640"/>
          </a:xfrm>
          <a:prstGeom prst="rect">
            <a:avLst/>
          </a:prstGeom>
          <a:solidFill>
            <a:srgbClr val="2A2A4A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172200" y="34061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EA0"/>
                </a:solidFill>
              </a:rPr>
              <a:t>[ Heatmap rouge ]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4617720"/>
            <a:ext cx="3017520" cy="411480"/>
          </a:xfrm>
          <a:prstGeom prst="rect">
            <a:avLst/>
          </a:prstGeom>
          <a:solidFill>
            <a:srgbClr val="153A25"/>
          </a:solidFill>
          <a:ln w="10160">
            <a:solidFill>
              <a:srgbClr val="22CC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47472" y="46817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Fonctionne sans mouvement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474720" y="4617720"/>
            <a:ext cx="5303520" cy="411480"/>
          </a:xfrm>
          <a:prstGeom prst="rect">
            <a:avLst/>
          </a:prstGeom>
          <a:solidFill>
            <a:srgbClr val="3A1515"/>
          </a:solidFill>
          <a:ln w="1016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593592" y="46817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Limite : agrégats d'abeilles → impossible de les séparer individuellement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EA0"/>
                </a:solidFill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914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503920" y="7772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046720" y="14630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2011680"/>
            <a:ext cx="9144000" cy="1280160"/>
          </a:xfrm>
          <a:prstGeom prst="rect">
            <a:avLst/>
          </a:prstGeom>
          <a:solidFill>
            <a:srgbClr val="E8A020">
              <a:alpha val="90000"/>
            </a:srgbClr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8A020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YOLOv8-Pose &amp; pipeline de filtres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914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503920" y="7772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046720" y="14630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du dataset — Roboflow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2743200" cy="1325880"/>
          </a:xfrm>
          <a:prstGeom prst="rect">
            <a:avLst/>
          </a:prstGeom>
          <a:solidFill>
            <a:srgbClr val="222244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9875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annotées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914400"/>
            <a:ext cx="2743200" cy="1325880"/>
          </a:xfrm>
          <a:prstGeom prst="rect">
            <a:avLst/>
          </a:prstGeom>
          <a:solidFill>
            <a:srgbClr val="222244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46120" y="9875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46120" y="15727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keypoints par abeille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(tête · thorax · abdomen)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914400"/>
            <a:ext cx="2743200" cy="1325880"/>
          </a:xfrm>
          <a:prstGeom prst="rect">
            <a:avLst/>
          </a:prstGeom>
          <a:solidFill>
            <a:srgbClr val="222244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172200" y="9875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72200" y="15727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d'annotation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(bounding box + keypoints)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423160"/>
            <a:ext cx="4480560" cy="2468880"/>
          </a:xfrm>
          <a:prstGeom prst="rect">
            <a:avLst/>
          </a:prstGeom>
          <a:solidFill>
            <a:srgbClr val="2A2A4A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28600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EA0"/>
                </a:solidFill>
              </a:rPr>
              <a:t>[ Capture Roboflow — interface d'annotation 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83480" y="2423160"/>
            <a:ext cx="3840480" cy="2468880"/>
          </a:xfrm>
          <a:prstGeom prst="rect">
            <a:avLst/>
          </a:prstGeom>
          <a:solidFill>
            <a:srgbClr val="2A2A4A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983480" y="3429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EA0"/>
                </a:solidFill>
              </a:rPr>
              <a:t>[ Exemple : abeille annotée avec keypoints 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49560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keypoints permettront d'estimer l'orientation de chaque abeille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EA0"/>
                </a:solidFill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914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503920" y="7772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046720" y="14630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modèle de réseau de neurones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932688"/>
            <a:ext cx="182880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9509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84832" y="932688"/>
            <a:ext cx="128016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130552" y="9509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92424" y="932688"/>
            <a:ext cx="128016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38144" y="9509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0016" y="932688"/>
            <a:ext cx="109728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745736" y="95097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24728" y="932688"/>
            <a:ext cx="109728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870448" y="95097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67728" y="932688"/>
            <a:ext cx="164592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013448" y="95097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Retenu 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1371600"/>
            <a:ext cx="1828800" cy="530352"/>
          </a:xfrm>
          <a:prstGeom prst="rect">
            <a:avLst/>
          </a:prstGeom>
          <a:solidFill>
            <a:srgbClr val="222244"/>
          </a:solidFill>
          <a:ln w="6350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74320" y="14173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 R-CNN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84832" y="1371600"/>
            <a:ext cx="1280160" cy="530352"/>
          </a:xfrm>
          <a:prstGeom prst="rect">
            <a:avLst/>
          </a:prstGeom>
          <a:solidFill>
            <a:srgbClr val="222244"/>
          </a:solidFill>
          <a:ln w="6350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130552" y="14173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92424" y="1371600"/>
            <a:ext cx="1280160" cy="530352"/>
          </a:xfrm>
          <a:prstGeom prst="rect">
            <a:avLst/>
          </a:prstGeom>
          <a:solidFill>
            <a:srgbClr val="222244"/>
          </a:solidFill>
          <a:ln w="6350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438144" y="14173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0016" y="1371600"/>
            <a:ext cx="1097280" cy="530352"/>
          </a:xfrm>
          <a:prstGeom prst="rect">
            <a:avLst/>
          </a:prstGeom>
          <a:solidFill>
            <a:srgbClr val="222244"/>
          </a:solidFill>
          <a:ln w="6350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745736" y="14173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24728" y="1371600"/>
            <a:ext cx="1097280" cy="530352"/>
          </a:xfrm>
          <a:prstGeom prst="rect">
            <a:avLst/>
          </a:prstGeom>
          <a:solidFill>
            <a:srgbClr val="222244"/>
          </a:solidFill>
          <a:ln w="6350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870448" y="14173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67728" y="1371600"/>
            <a:ext cx="1645920" cy="530352"/>
          </a:xfrm>
          <a:prstGeom prst="rect">
            <a:avLst/>
          </a:prstGeom>
          <a:solidFill>
            <a:srgbClr val="222244"/>
          </a:solidFill>
          <a:ln w="6350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7013448" y="141732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1938528"/>
            <a:ext cx="1828800" cy="530352"/>
          </a:xfrm>
          <a:prstGeom prst="rect">
            <a:avLst/>
          </a:prstGeom>
          <a:solidFill>
            <a:srgbClr val="222244"/>
          </a:solidFill>
          <a:ln w="6350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74320" y="19842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084832" y="1938528"/>
            <a:ext cx="1280160" cy="530352"/>
          </a:xfrm>
          <a:prstGeom prst="rect">
            <a:avLst/>
          </a:prstGeom>
          <a:solidFill>
            <a:srgbClr val="222244"/>
          </a:solidFill>
          <a:ln w="6350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130552" y="19842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92424" y="1938528"/>
            <a:ext cx="1280160" cy="530352"/>
          </a:xfrm>
          <a:prstGeom prst="rect">
            <a:avLst/>
          </a:prstGeom>
          <a:solidFill>
            <a:srgbClr val="222244"/>
          </a:solidFill>
          <a:ln w="6350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438144" y="19842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0016" y="1938528"/>
            <a:ext cx="1097280" cy="530352"/>
          </a:xfrm>
          <a:prstGeom prst="rect">
            <a:avLst/>
          </a:prstGeom>
          <a:solidFill>
            <a:srgbClr val="222244"/>
          </a:solidFill>
          <a:ln w="6350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745736" y="198424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24728" y="1938528"/>
            <a:ext cx="1097280" cy="530352"/>
          </a:xfrm>
          <a:prstGeom prst="rect">
            <a:avLst/>
          </a:prstGeom>
          <a:solidFill>
            <a:srgbClr val="222244"/>
          </a:solidFill>
          <a:ln w="6350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870448" y="198424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967728" y="1938528"/>
            <a:ext cx="1645920" cy="530352"/>
          </a:xfrm>
          <a:prstGeom prst="rect">
            <a:avLst/>
          </a:prstGeom>
          <a:solidFill>
            <a:srgbClr val="222244"/>
          </a:solidFill>
          <a:ln w="6350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7013448" y="198424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28600" y="2505456"/>
            <a:ext cx="1828800" cy="530352"/>
          </a:xfrm>
          <a:prstGeom prst="rect">
            <a:avLst/>
          </a:prstGeom>
          <a:solidFill>
            <a:srgbClr val="1E3520"/>
          </a:solidFill>
          <a:ln w="12700">
            <a:solidFill>
              <a:srgbClr val="22CC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274320" y="25511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YOLOv8-Pose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084832" y="2505456"/>
            <a:ext cx="1280160" cy="530352"/>
          </a:xfrm>
          <a:prstGeom prst="rect">
            <a:avLst/>
          </a:prstGeom>
          <a:solidFill>
            <a:srgbClr val="1E3520"/>
          </a:solidFill>
          <a:ln w="12700">
            <a:solidFill>
              <a:srgbClr val="22CC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2130552" y="255117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rapide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392424" y="2505456"/>
            <a:ext cx="1280160" cy="530352"/>
          </a:xfrm>
          <a:prstGeom prst="rect">
            <a:avLst/>
          </a:prstGeom>
          <a:solidFill>
            <a:srgbClr val="1E3520"/>
          </a:solidFill>
          <a:ln w="12700">
            <a:solidFill>
              <a:srgbClr val="22CC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3438144" y="255117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00016" y="2505456"/>
            <a:ext cx="1097280" cy="530352"/>
          </a:xfrm>
          <a:prstGeom prst="rect">
            <a:avLst/>
          </a:prstGeom>
          <a:solidFill>
            <a:srgbClr val="1E3520"/>
          </a:solidFill>
          <a:ln w="12700">
            <a:solidFill>
              <a:srgbClr val="22CC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4745736" y="25511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Natif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824728" y="2505456"/>
            <a:ext cx="1097280" cy="530352"/>
          </a:xfrm>
          <a:prstGeom prst="rect">
            <a:avLst/>
          </a:prstGeom>
          <a:solidFill>
            <a:srgbClr val="1E3520"/>
          </a:solidFill>
          <a:ln w="12700">
            <a:solidFill>
              <a:srgbClr val="22CC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5870448" y="25511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967728" y="2505456"/>
            <a:ext cx="1645920" cy="530352"/>
          </a:xfrm>
          <a:prstGeom prst="rect">
            <a:avLst/>
          </a:prstGeom>
          <a:solidFill>
            <a:srgbClr val="1E3520"/>
          </a:solidFill>
          <a:ln w="12700">
            <a:solidFill>
              <a:srgbClr val="22CC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7013448" y="255117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Retenu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28600" y="3154680"/>
            <a:ext cx="8595360" cy="1783080"/>
          </a:xfrm>
          <a:prstGeom prst="rect">
            <a:avLst/>
          </a:prstGeom>
          <a:solidFill>
            <a:srgbClr val="222244"/>
          </a:solidFill>
          <a:ln w="12700">
            <a:solidFill>
              <a:srgbClr val="22CC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411480" y="3246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YOLOv8-Pose ?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411480" y="3657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Optimisé pour la vidéo et le traitement image par image en temps réel
→  Détection de pose native — tête, thorax, abdomen sans adaptation
→  Faible empreinte mémoire — compatible avec un déploiement embarqué futur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EA0"/>
                </a:solidFill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914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503920" y="7772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046720" y="14630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prétraitement — 15 combinaisons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1463040" cy="1005840"/>
          </a:xfrm>
          <a:prstGeom prst="rect">
            <a:avLst/>
          </a:prstGeom>
          <a:solidFill>
            <a:srgbClr val="2A2A4A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82880" y="1143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64208" y="1463040"/>
            <a:ext cx="36576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057400" y="822960"/>
            <a:ext cx="2880360" cy="1463040"/>
          </a:xfrm>
          <a:prstGeom prst="rect">
            <a:avLst/>
          </a:prstGeom>
          <a:solidFill>
            <a:srgbClr val="222244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148840" y="8686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Contraste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76272" y="1234440"/>
            <a:ext cx="2651760" cy="274320"/>
          </a:xfrm>
          <a:prstGeom prst="rect">
            <a:avLst/>
          </a:prstGeom>
          <a:solidFill>
            <a:srgbClr val="2A2A5A"/>
          </a:solidFill>
          <a:ln w="6350">
            <a:solidFill>
              <a:srgbClr val="8A8E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176272" y="12527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76272" y="1581912"/>
            <a:ext cx="2651760" cy="274320"/>
          </a:xfrm>
          <a:prstGeom prst="rect">
            <a:avLst/>
          </a:prstGeom>
          <a:solidFill>
            <a:srgbClr val="2A2A5A"/>
          </a:solidFill>
          <a:ln w="6350">
            <a:solidFill>
              <a:srgbClr val="8A8E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176272" y="16002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Retinex MSR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76272" y="1929384"/>
            <a:ext cx="2651760" cy="274320"/>
          </a:xfrm>
          <a:prstGeom prst="rect">
            <a:avLst/>
          </a:prstGeom>
          <a:solidFill>
            <a:srgbClr val="2A2A5A"/>
          </a:solidFill>
          <a:ln w="6350">
            <a:solidFill>
              <a:srgbClr val="8A8E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176272" y="19476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56048" y="1463040"/>
            <a:ext cx="36576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5349240" y="822960"/>
            <a:ext cx="2377440" cy="1600200"/>
          </a:xfrm>
          <a:prstGeom prst="rect">
            <a:avLst/>
          </a:prstGeom>
          <a:solidFill>
            <a:srgbClr val="222244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440680" y="868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Lissage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68112" y="1234440"/>
            <a:ext cx="2148840" cy="219456"/>
          </a:xfrm>
          <a:prstGeom prst="rect">
            <a:avLst/>
          </a:prstGeom>
          <a:solidFill>
            <a:srgbClr val="2A2A5A"/>
          </a:solidFill>
          <a:ln w="6350">
            <a:solidFill>
              <a:srgbClr val="8A8E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468112" y="12527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68112" y="1490472"/>
            <a:ext cx="2148840" cy="219456"/>
          </a:xfrm>
          <a:prstGeom prst="rect">
            <a:avLst/>
          </a:prstGeom>
          <a:solidFill>
            <a:srgbClr val="2A2A5A"/>
          </a:solidFill>
          <a:ln w="6350">
            <a:solidFill>
              <a:srgbClr val="8A8E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468112" y="150876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Bilatéral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68112" y="1746504"/>
            <a:ext cx="2148840" cy="219456"/>
          </a:xfrm>
          <a:prstGeom prst="rect">
            <a:avLst/>
          </a:prstGeom>
          <a:solidFill>
            <a:srgbClr val="2A2A5A"/>
          </a:solidFill>
          <a:ln w="6350">
            <a:solidFill>
              <a:srgbClr val="8A8E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468112" y="176479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EPOAF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68112" y="2002536"/>
            <a:ext cx="2148840" cy="219456"/>
          </a:xfrm>
          <a:prstGeom prst="rect">
            <a:avLst/>
          </a:prstGeom>
          <a:solidFill>
            <a:srgbClr val="2A2A5A"/>
          </a:solidFill>
          <a:ln w="6350">
            <a:solidFill>
              <a:srgbClr val="8A8E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468112" y="202082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68112" y="2258568"/>
            <a:ext cx="2148840" cy="219456"/>
          </a:xfrm>
          <a:prstGeom prst="rect">
            <a:avLst/>
          </a:prstGeom>
          <a:solidFill>
            <a:srgbClr val="2A2A5A"/>
          </a:solidFill>
          <a:ln w="6350">
            <a:solidFill>
              <a:srgbClr val="8A8E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468112" y="227685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744968" y="1463040"/>
            <a:ext cx="36576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8119872" y="1005840"/>
            <a:ext cx="777240" cy="1005840"/>
          </a:xfrm>
          <a:prstGeom prst="rect">
            <a:avLst/>
          </a:prstGeom>
          <a:solidFill>
            <a:srgbClr val="1E3520"/>
          </a:solidFill>
          <a:ln w="19050">
            <a:solidFill>
              <a:srgbClr val="22CC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8119872" y="11430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6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2560320"/>
            <a:ext cx="6858000" cy="594360"/>
          </a:xfrm>
          <a:prstGeom prst="rect">
            <a:avLst/>
          </a:prstGeom>
          <a:solidFill>
            <a:srgbClr val="1E2A4A"/>
          </a:solidFill>
          <a:ln w="63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2194560" y="26700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sources × 5 filtres = 15 combinaisons entraînées et évaluées  (BM3D abandonné : trop lent — ~5 min/image)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" y="3337560"/>
            <a:ext cx="8595360" cy="1600200"/>
          </a:xfrm>
          <a:prstGeom prst="rect">
            <a:avLst/>
          </a:prstGeom>
          <a:solidFill>
            <a:srgbClr val="2A2A4A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228600" y="39090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EA0"/>
                </a:solidFill>
              </a:rPr>
              <a:t>[ Schéma pipeline / exemples d'images filtrées ]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EA0"/>
                </a:solidFill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914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503920" y="7772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046720" y="14630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mAP 75 %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2560320" cy="3200400"/>
          </a:xfrm>
          <a:prstGeom prst="rect">
            <a:avLst/>
          </a:prstGeom>
          <a:solidFill>
            <a:srgbClr val="222244"/>
          </a:solidFill>
          <a:ln w="19050">
            <a:solidFill>
              <a:srgbClr val="22CC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28600" y="12801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66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28600" y="22860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pipeline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2011680" cy="45720"/>
          </a:xfrm>
          <a:prstGeom prst="rect">
            <a:avLst/>
          </a:prstGeom>
          <a:solidFill>
            <a:srgbClr val="E8A020">
              <a:alpha val="50000"/>
            </a:srgbClr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28600" y="312724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images en niveaux de gris avec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bruit structurel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63240" y="914400"/>
            <a:ext cx="5760720" cy="2011680"/>
          </a:xfrm>
          <a:prstGeom prst="rect">
            <a:avLst/>
          </a:prstGeom>
          <a:solidFill>
            <a:srgbClr val="2A2A4A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063240" y="1691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EA0"/>
                </a:solidFill>
              </a:rPr>
              <a:t>[ Courbes mAP ou tableau des 15 pipelines 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63240" y="3063240"/>
            <a:ext cx="5760720" cy="1920240"/>
          </a:xfrm>
          <a:prstGeom prst="rect">
            <a:avLst/>
          </a:prstGeom>
          <a:solidFill>
            <a:srgbClr val="2A2A4A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063240" y="37947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EA0"/>
                </a:solidFill>
              </a:rPr>
              <a:t>[ Exemple de détection YOLOv8 sur image de ruche 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4160520"/>
            <a:ext cx="2560320" cy="822960"/>
          </a:xfrm>
          <a:prstGeom prst="rect">
            <a:avLst/>
          </a:prstGeom>
          <a:solidFill>
            <a:srgbClr val="1E2A4A"/>
          </a:solidFill>
          <a:ln w="63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20040" y="4206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prétraitement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impacte significativement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performance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EA0"/>
                </a:solidFill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914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503920" y="7772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046720" y="1463040"/>
            <a:ext cx="1097280" cy="914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" y="89611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298448"/>
            <a:ext cx="4160520" cy="594360"/>
          </a:xfrm>
          <a:prstGeom prst="rect">
            <a:avLst/>
          </a:prstGeom>
          <a:solidFill>
            <a:srgbClr val="222244"/>
          </a:solidFill>
          <a:ln w="1016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45720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36245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classique (FFT/heatmap) : solution légère, sans entraînement, mais limitée aux abeilles non-agrégées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984248"/>
            <a:ext cx="4160520" cy="594360"/>
          </a:xfrm>
          <a:prstGeom prst="rect">
            <a:avLst/>
          </a:prstGeom>
          <a:solidFill>
            <a:srgbClr val="222244"/>
          </a:solidFill>
          <a:ln w="1016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28600" y="1984248"/>
            <a:ext cx="45720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65760" y="204825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YOLOv8-Pose : détection robuste à 75 % mAP, localisation + orientation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670048"/>
            <a:ext cx="4160520" cy="594360"/>
          </a:xfrm>
          <a:prstGeom prst="rect">
            <a:avLst/>
          </a:prstGeom>
          <a:solidFill>
            <a:srgbClr val="222244"/>
          </a:solidFill>
          <a:ln w="1016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28600" y="2670048"/>
            <a:ext cx="45720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273405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de prétraitement influe sur la performance — le choix du filtre n'est pas anodin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89611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298448"/>
            <a:ext cx="4206240" cy="685800"/>
          </a:xfrm>
          <a:prstGeom prst="rect">
            <a:avLst/>
          </a:prstGeom>
          <a:solidFill>
            <a:srgbClr val="153A25"/>
          </a:solidFill>
          <a:ln w="10160">
            <a:solidFill>
              <a:srgbClr val="22CC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773168" y="1353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6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Analyse comportementale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73168" y="16367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des keypoints → orientation, flux, alignement en file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075688"/>
            <a:ext cx="4206240" cy="685800"/>
          </a:xfrm>
          <a:prstGeom prst="rect">
            <a:avLst/>
          </a:prstGeom>
          <a:solidFill>
            <a:srgbClr val="153A25"/>
          </a:solidFill>
          <a:ln w="10160">
            <a:solidFill>
              <a:srgbClr val="22CC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773168" y="2130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6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Monitoring en temps réel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73168" y="24140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embarqué sur caméra in-situ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852928"/>
            <a:ext cx="4206240" cy="685800"/>
          </a:xfrm>
          <a:prstGeom prst="rect">
            <a:avLst/>
          </a:prstGeom>
          <a:solidFill>
            <a:srgbClr val="153A25"/>
          </a:solidFill>
          <a:ln w="10160">
            <a:solidFill>
              <a:srgbClr val="22CC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773168" y="2907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6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Généralisation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73168" y="31912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à d'autres ruches et conditions d'éclairage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" y="4370832"/>
            <a:ext cx="8595360" cy="594360"/>
          </a:xfrm>
          <a:prstGeom prst="rect">
            <a:avLst/>
          </a:prstGeom>
          <a:solidFill>
            <a:srgbClr val="E8A020">
              <a:alpha val="18000"/>
            </a:srgbClr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0040" y="4462272"/>
            <a:ext cx="312725" cy="19111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A0601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278343" y="4497019"/>
            <a:ext cx="111191" cy="111191"/>
          </a:xfrm>
          <a:prstGeom prst="ellipse">
            <a:avLst/>
          </a:prstGeom>
          <a:solidFill>
            <a:srgbClr val="2A1A00"/>
          </a:solidFill>
          <a:ln w="6350">
            <a:solidFill>
              <a:srgbClr val="A0601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54787" y="4375404"/>
            <a:ext cx="191110" cy="97292"/>
          </a:xfrm>
          <a:prstGeom prst="ellipse">
            <a:avLst/>
          </a:prstGeom>
          <a:solidFill>
            <a:srgbClr val="AACCFF">
              <a:alpha val="55000"/>
            </a:srgbClr>
          </a:solidFill>
          <a:ln w="8890">
            <a:solidFill>
              <a:srgbClr val="7799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804672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vision par ordinateur au service de la préservation de l'espèce la plus importante de la planète.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EA0"/>
                </a:solidFill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68096" y="987552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74320" y="1792224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68096" y="2596896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3401568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68096" y="4206240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261872" y="182880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1755648" y="987552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261872" y="1792224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755648" y="2596896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261872" y="3401568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755648" y="4206240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249424" y="182880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743200" y="987552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249424" y="1792224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0" y="2596896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249424" y="3401568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743200" y="4206240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36976" y="182880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730752" y="987552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36976" y="1792224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730752" y="2596896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36976" y="3401568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730752" y="4206240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224528" y="182880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718304" y="987552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224528" y="1792224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718304" y="2596896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224528" y="3401568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718304" y="4206240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5212080" y="182880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5705856" y="987552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5212080" y="1792224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5705856" y="2596896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5212080" y="3401568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5705856" y="4206240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199632" y="182880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693408" y="987552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6199632" y="1792224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693408" y="2596896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6199632" y="3401568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693408" y="4206240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7187184" y="182880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7680960" y="987552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7187184" y="1792224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7680960" y="2596896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7187184" y="3401568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7680960" y="4206240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8174736" y="182880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8668512" y="987552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8174736" y="1792224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8668512" y="2596896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8174736" y="3401568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8668512" y="4206240"/>
            <a:ext cx="914400" cy="731520"/>
          </a:xfrm>
          <a:prstGeom prst="ellipse">
            <a:avLst/>
          </a:prstGeom>
          <a:solidFill>
            <a:srgbClr val="E8A020">
              <a:alpha val="9000"/>
            </a:srgbClr>
          </a:solidFill>
          <a:ln w="10160">
            <a:solidFill>
              <a:srgbClr val="E8A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1371600" y="1280160"/>
            <a:ext cx="6400800" cy="2651760"/>
          </a:xfrm>
          <a:prstGeom prst="rect">
            <a:avLst/>
          </a:prstGeom>
          <a:solidFill>
            <a:srgbClr val="1A1A2E">
              <a:alpha val="90000"/>
            </a:srgbClr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1463040" y="150876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2800" dirty="0"/>
          </a:p>
        </p:txBody>
      </p:sp>
      <p:sp>
        <p:nvSpPr>
          <p:cNvPr id="58" name="Shape 56"/>
          <p:cNvSpPr/>
          <p:nvPr/>
        </p:nvSpPr>
        <p:spPr>
          <a:xfrm>
            <a:off x="3200400" y="2240280"/>
            <a:ext cx="27432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1463040" y="237744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1463040" y="306324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d'abeilles par vision par ordinateur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8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d'image &amp; YOLOv8-Pose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4297680" y="4023360"/>
            <a:ext cx="452628" cy="27660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A0601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4237330" y="4073652"/>
            <a:ext cx="160934" cy="160934"/>
          </a:xfrm>
          <a:prstGeom prst="ellipse">
            <a:avLst/>
          </a:prstGeom>
          <a:solidFill>
            <a:srgbClr val="2A1A00"/>
          </a:solidFill>
          <a:ln w="6350">
            <a:solidFill>
              <a:srgbClr val="A0601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4347972" y="3897630"/>
            <a:ext cx="276606" cy="140818"/>
          </a:xfrm>
          <a:prstGeom prst="ellipse">
            <a:avLst/>
          </a:prstGeom>
          <a:solidFill>
            <a:srgbClr val="AACCFF">
              <a:alpha val="55000"/>
            </a:srgbClr>
          </a:solidFill>
          <a:ln w="8890">
            <a:solidFill>
              <a:srgbClr val="7799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827</Words>
  <Application>Microsoft Macintosh PowerPoint</Application>
  <PresentationFormat>Affichage à l'écran (16:9)</PresentationFormat>
  <Paragraphs>209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Détection d'abeilles par vision par ordinateur</dc:title>
  <dc:subject>PptxGenJS Presentation</dc:subject>
  <dc:creator>PptxGenJS</dc:creator>
  <cp:lastModifiedBy>Valentin DAVEAU</cp:lastModifiedBy>
  <cp:revision>2</cp:revision>
  <cp:lastPrinted>2026-04-22T12:34:57Z</cp:lastPrinted>
  <dcterms:created xsi:type="dcterms:W3CDTF">2026-04-22T10:13:58Z</dcterms:created>
  <dcterms:modified xsi:type="dcterms:W3CDTF">2026-04-22T12:42:50Z</dcterms:modified>
</cp:coreProperties>
</file>